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afternoon. I am Shangde Liu, and I am working individually on Fidelity-Aware Low-Light Image Enhancement. My project explores not only how to make a dark image more visible, but also how to assess which parts of an enhanced result may need extra inspection. Today I will show what I built in Sprint 1, what the experiment taught me, and what I plan to do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My mission is to help photographers enhance low-light images while providing information about regions that may be less reliable. As a photographer, I know that a brighter picture is not always a more faithful picture. Enhancement may amplify noise or introduce plausible-looking details. My research question is whether a spatial indicator can help us decide where to inspect the output more carefully. At this stage, I am not claiming that the indicator proves which pixels are correct.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defined five user stories. First, load a low-light image. Second, enhance it. Third, generate an output-sensitivity indicator. Fourth, visualize the results. Finally, validate the indicator against paired reference data. Sprint 1 touched all five. Image loading, the initial sensitivity map, and visualization are working. Enhancement and validation remain in progress because gamma correction is only a basic baseline, and the validation so far covers one image.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implementation is intentionally lightweight. I use Python for the pipeline, NumPy for pixel calculations and correlations, Pillow for image input and output, and Matplotlib for visualization. The LOL dataset provides paired low-light and normal-light images for reference-based evaluation. GitHub and VS Code support reproducibility and project management. Everything currently runs locally. Gamma correction is my first baseline, not a state-of-the-art low-light enhancement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is the working prototype, using a real paired image from the LOL evaluation set. The top row shows the low-light input, a slightly perturbed input, and gamma enhancement. The bottom row shows the normal-light reference, a reference-error map, and an output-sensitivity map. I compute reference error by comparing the enhanced result with the paired reference. Sensitivity comes from the difference between enhanced outputs before and after a small input perturbation. In this single-image pilot, sensitivity versus error had a correlation of negative zero point five six four. Sensitivity versus darkness was positive zero point five six nine, and error versus darkness was negative zero point nine six nine. I also studied three focal papers: SID, Retinex-Net, and MR. Illuminate. One key insight is that better-looking enhancement does not guarantee faithful recovery.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most important lesson surprised me. I initially expected regions with high output sensitivity to also have high enhancement error. But the first test showed a negative sensitivity-error correlation. Sensitivity was also related to darkness. This suggests that the map may reflect the gamma operator or image brightness rather than fidelity. A second lesson came from reviewing the plan with ChatGPT and Claude. We realized that even the reference-error map is only a proxy, because paired images may differ in color, exposure, or alignment. So my next test must ask whether sensitivity adds information beyond brightness, and whether the reference-based target is appropriate. These are preliminary observations, not general conclusions.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Sprint 2, I will focus on validation rather than polishing the visualization. First, I will run the pipeline on multiple LOL image pairs. Second, I will compare sensitivity with a darkness-only baseline, including more than one perturbation strength. Third, I will try to integrate one reproducible pretrained low-light enhancement model. My current challenge is choosing that model and deciding how to interpret reference-based error when the paired reference is imperfect. At the end of two weeks, I want to show a reproducible multi-image evaluation and make a clear decision: continue with sensitivity if it adds value beyond brightness, or pivot if it does not. Thank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58D6CB"/>
          </a:solidFill>
          <a:ln w="12700">
            <a:solidFill>
              <a:srgbClr val="58D6CB"/>
            </a:solidFill>
            <a:prstDash val="solid"/>
          </a:ln>
        </p:spPr>
      </p:sp>
      <p:pic>
        <p:nvPicPr>
          <p:cNvPr id="3" name="Image 0" descr="/mnt/data/_sprint_prep/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594360"/>
            <a:ext cx="4937760" cy="2788920"/>
          </a:xfrm>
          <a:prstGeom prst="rect">
            <a:avLst/>
          </a:prstGeom>
        </p:spPr>
      </p:pic>
      <p:pic>
        <p:nvPicPr>
          <p:cNvPr id="4" name="Image 1" descr="/mnt/data/_sprint_prep/referen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493008"/>
            <a:ext cx="4937760" cy="278892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6720840" y="594360"/>
            <a:ext cx="4937760" cy="2788920"/>
          </a:xfrm>
          <a:prstGeom prst="rect">
            <a:avLst/>
          </a:prstGeom>
          <a:solidFill>
            <a:srgbClr val="0C1424">
              <a:alpha val="72000"/>
            </a:srgbClr>
          </a:solidFill>
          <a:ln w="12700">
            <a:solidFill>
              <a:srgbClr val="0C1424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594360" y="612648"/>
            <a:ext cx="1920240" cy="292608"/>
          </a:xfrm>
          <a:prstGeom prst="roundRect">
            <a:avLst>
              <a:gd name="adj" fmla="val 40625"/>
            </a:avLst>
          </a:prstGeom>
          <a:solidFill>
            <a:srgbClr val="17253A"/>
          </a:solidFill>
          <a:ln w="8890">
            <a:solidFill>
              <a:srgbClr val="17253A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704088" y="649224"/>
            <a:ext cx="17007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8D6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EC601  /  SPRINT 1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612648" y="1463040"/>
            <a:ext cx="6126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Fidelity-Aware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Low-Light Image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Enhancement</a:t>
            </a:r>
            <a:endParaRPr lang="en-US" sz="3600" dirty="0"/>
          </a:p>
        </p:txBody>
      </p:sp>
      <p:sp>
        <p:nvSpPr>
          <p:cNvPr id="9" name="Shape 5"/>
          <p:cNvSpPr/>
          <p:nvPr/>
        </p:nvSpPr>
        <p:spPr>
          <a:xfrm>
            <a:off x="621792" y="4251960"/>
            <a:ext cx="1371600" cy="0"/>
          </a:xfrm>
          <a:prstGeom prst="line">
            <a:avLst/>
          </a:prstGeom>
          <a:noFill/>
          <a:ln w="50800">
            <a:solidFill>
              <a:srgbClr val="58D6CB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30936" y="4617720"/>
            <a:ext cx="5669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A9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prototype for enhancement and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A9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spatial reliability assessment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621792" y="6272784"/>
            <a:ext cx="6217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 Fidelity-Aware LLIE     •     MEMBER  Shangde Liu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6903720" y="30175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 LIGHT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6903720" y="5989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8D6CB"/>
          </a:solidFill>
          <a:ln w="12700">
            <a:solidFill>
              <a:srgbClr val="58D6C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5603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8D6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/ MISSION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75488" y="612648"/>
            <a:ext cx="112014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Enhance the image. Question the result.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20700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user  /  photographers editing underexposed images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" y="6446520"/>
            <a:ext cx="11192256" cy="0"/>
          </a:xfrm>
          <a:prstGeom prst="line">
            <a:avLst/>
          </a:prstGeom>
          <a:noFill/>
          <a:ln w="12700">
            <a:solidFill>
              <a:srgbClr val="3346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1967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A9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EC601  /  FIDELITY-AWARE LLIE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835640" y="64922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9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/ 07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1783080"/>
            <a:ext cx="6720840" cy="2057400"/>
          </a:xfrm>
          <a:prstGeom prst="roundRect">
            <a:avLst>
              <a:gd name="adj" fmla="val 6222"/>
            </a:avLst>
          </a:prstGeom>
          <a:solidFill>
            <a:srgbClr val="17253A"/>
          </a:solidFill>
          <a:ln w="8890">
            <a:solidFill>
              <a:srgbClr val="1725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6384" y="202082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180" kern="0" dirty="0">
                <a:solidFill>
                  <a:srgbClr val="58D6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OUR MISSION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2423160"/>
            <a:ext cx="61447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Help photographers enhance low-light images while indicating which regions of the result may be less reliable.</a:t>
            </a:r>
            <a:endParaRPr lang="en-US" sz="2300" dirty="0"/>
          </a:p>
        </p:txBody>
      </p:sp>
      <p:pic>
        <p:nvPicPr>
          <p:cNvPr id="12" name="Image 0" descr="/mnt/data/_sprint_prep/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773936"/>
            <a:ext cx="1920240" cy="1874520"/>
          </a:xfrm>
          <a:prstGeom prst="rect">
            <a:avLst/>
          </a:prstGeom>
        </p:spPr>
      </p:pic>
      <p:pic>
        <p:nvPicPr>
          <p:cNvPr id="13" name="Image 1" descr="/mnt/data/_sprint_prep/gamm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9488" y="1773936"/>
            <a:ext cx="1920240" cy="18745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644384" y="373989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A9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9646920" y="373989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A9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ENHANCED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685800" y="438912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8D6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RESEARCH QUESTION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685800" y="4773168"/>
            <a:ext cx="10424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a spatial indicator flag regions that deserve closer inspection?</a:t>
            </a:r>
            <a:endParaRPr lang="en-US" sz="2400" dirty="0"/>
          </a:p>
        </p:txBody>
      </p:sp>
      <p:sp>
        <p:nvSpPr>
          <p:cNvPr id="18" name="Text 14"/>
          <p:cNvSpPr/>
          <p:nvPr/>
        </p:nvSpPr>
        <p:spPr>
          <a:xfrm>
            <a:off x="694944" y="5815584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9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claim of pixel-level truth: the indicator is an experimental proxy.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8D6CB"/>
          </a:solidFill>
          <a:ln w="12700">
            <a:solidFill>
              <a:srgbClr val="58D6C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5603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8D6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/ USER STORIES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75488" y="612648"/>
            <a:ext cx="112014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Five stories. One end-to-end workflow.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20700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Sprint 1 touched all five stories; three are implemented in the initial prototype.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" y="6446520"/>
            <a:ext cx="11192256" cy="0"/>
          </a:xfrm>
          <a:prstGeom prst="line">
            <a:avLst/>
          </a:prstGeom>
          <a:noFill/>
          <a:ln w="12700">
            <a:solidFill>
              <a:srgbClr val="3346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1967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A9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EC601  /  FIDELITY-AWARE LLIE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835640" y="64922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9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/ 07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76072" y="1783080"/>
            <a:ext cx="10972800" cy="685800"/>
          </a:xfrm>
          <a:prstGeom prst="roundRect">
            <a:avLst>
              <a:gd name="adj" fmla="val 18667"/>
            </a:avLst>
          </a:prstGeom>
          <a:solidFill>
            <a:srgbClr val="17253A"/>
          </a:solidFill>
          <a:ln w="8890">
            <a:solidFill>
              <a:srgbClr val="1725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929384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58D6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71600" y="1883664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Load paired low-light images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71600" y="2176272"/>
            <a:ext cx="6949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9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and reference load successfully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482328" y="1965960"/>
            <a:ext cx="1664208" cy="292608"/>
          </a:xfrm>
          <a:prstGeom prst="roundRect">
            <a:avLst>
              <a:gd name="adj" fmla="val 40625"/>
            </a:avLst>
          </a:prstGeom>
          <a:solidFill>
            <a:srgbClr val="17253A"/>
          </a:solidFill>
          <a:ln w="8890">
            <a:solidFill>
              <a:srgbClr val="1725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92056" y="2002536"/>
            <a:ext cx="14447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D9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DONE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76072" y="2615184"/>
            <a:ext cx="10972800" cy="685800"/>
          </a:xfrm>
          <a:prstGeom prst="roundRect">
            <a:avLst>
              <a:gd name="adj" fmla="val 18667"/>
            </a:avLst>
          </a:prstGeom>
          <a:solidFill>
            <a:srgbClr val="111D30"/>
          </a:solidFill>
          <a:ln w="8890">
            <a:solidFill>
              <a:srgbClr val="111D3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276148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58D6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71600" y="271576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Enhance a low-light image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71600" y="3008376"/>
            <a:ext cx="6949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9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Gamma works; stronger LLIE pending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482328" y="2798064"/>
            <a:ext cx="1664208" cy="292608"/>
          </a:xfrm>
          <a:prstGeom prst="roundRect">
            <a:avLst>
              <a:gd name="adj" fmla="val 40625"/>
            </a:avLst>
          </a:prstGeom>
          <a:solidFill>
            <a:srgbClr val="17253A"/>
          </a:solidFill>
          <a:ln w="8890">
            <a:solidFill>
              <a:srgbClr val="1725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92056" y="2834640"/>
            <a:ext cx="14447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BF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PROGRESS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76072" y="3447288"/>
            <a:ext cx="10972800" cy="685800"/>
          </a:xfrm>
          <a:prstGeom prst="roundRect">
            <a:avLst>
              <a:gd name="adj" fmla="val 18667"/>
            </a:avLst>
          </a:prstGeom>
          <a:solidFill>
            <a:srgbClr val="17253A"/>
          </a:solidFill>
          <a:ln w="8890">
            <a:solidFill>
              <a:srgbClr val="1725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3593592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58D6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71600" y="354787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 output sensitivity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371600" y="3840480"/>
            <a:ext cx="6949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9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Controlled input perturbation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482328" y="3630168"/>
            <a:ext cx="1664208" cy="292608"/>
          </a:xfrm>
          <a:prstGeom prst="roundRect">
            <a:avLst>
              <a:gd name="adj" fmla="val 40625"/>
            </a:avLst>
          </a:prstGeom>
          <a:solidFill>
            <a:srgbClr val="17253A"/>
          </a:solidFill>
          <a:ln w="8890">
            <a:solidFill>
              <a:srgbClr val="1725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592056" y="3666744"/>
            <a:ext cx="14447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D9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DONE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76072" y="4279392"/>
            <a:ext cx="10972800" cy="685800"/>
          </a:xfrm>
          <a:prstGeom prst="roundRect">
            <a:avLst>
              <a:gd name="adj" fmla="val 18667"/>
            </a:avLst>
          </a:prstGeom>
          <a:solidFill>
            <a:srgbClr val="111D30"/>
          </a:solidFill>
          <a:ln w="8890">
            <a:solidFill>
              <a:srgbClr val="111D3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" y="4425696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58D6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371600" y="4379976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Visualize image and maps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371600" y="4672584"/>
            <a:ext cx="6949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9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Aligned six-panel comparison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9482328" y="4462272"/>
            <a:ext cx="1664208" cy="292608"/>
          </a:xfrm>
          <a:prstGeom prst="roundRect">
            <a:avLst>
              <a:gd name="adj" fmla="val 40625"/>
            </a:avLst>
          </a:prstGeom>
          <a:solidFill>
            <a:srgbClr val="17253A"/>
          </a:solidFill>
          <a:ln w="8890">
            <a:solidFill>
              <a:srgbClr val="17253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592056" y="4498848"/>
            <a:ext cx="14447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D9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DONE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76072" y="5111496"/>
            <a:ext cx="10972800" cy="685800"/>
          </a:xfrm>
          <a:prstGeom prst="roundRect">
            <a:avLst>
              <a:gd name="adj" fmla="val 18667"/>
            </a:avLst>
          </a:prstGeom>
          <a:solidFill>
            <a:srgbClr val="17253A"/>
          </a:solidFill>
          <a:ln w="8890">
            <a:solidFill>
              <a:srgbClr val="17253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7240" y="5257800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58D6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371600" y="521208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 indicator vs. error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371600" y="5504688"/>
            <a:ext cx="6949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9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One-image pilot; multi-image next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9482328" y="5294376"/>
            <a:ext cx="1664208" cy="292608"/>
          </a:xfrm>
          <a:prstGeom prst="roundRect">
            <a:avLst>
              <a:gd name="adj" fmla="val 40625"/>
            </a:avLst>
          </a:prstGeom>
          <a:solidFill>
            <a:srgbClr val="17253A"/>
          </a:solidFill>
          <a:ln w="8890">
            <a:solidFill>
              <a:srgbClr val="17253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592056" y="5330952"/>
            <a:ext cx="14447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BF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PROGRESS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8D6CB"/>
          </a:solidFill>
          <a:ln w="12700">
            <a:solidFill>
              <a:srgbClr val="58D6C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5603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8D6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/ TOOLS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75488" y="612648"/>
            <a:ext cx="112014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small, reproducible local pipeline.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20700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tool has a clear purpose; no paid API or cloud dependency.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" y="6446520"/>
            <a:ext cx="11192256" cy="0"/>
          </a:xfrm>
          <a:prstGeom prst="line">
            <a:avLst/>
          </a:prstGeom>
          <a:noFill/>
          <a:ln w="12700">
            <a:solidFill>
              <a:srgbClr val="3346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1967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A9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EC601  /  FIDELITY-AWARE LLIE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835640" y="64922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9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/ 07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76072" y="1819656"/>
            <a:ext cx="3602736" cy="1389888"/>
          </a:xfrm>
          <a:prstGeom prst="roundRect">
            <a:avLst>
              <a:gd name="adj" fmla="val 9211"/>
            </a:avLst>
          </a:prstGeom>
          <a:solidFill>
            <a:srgbClr val="17253A"/>
          </a:solidFill>
          <a:ln w="8890">
            <a:solidFill>
              <a:srgbClr val="1725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4672" y="2066544"/>
            <a:ext cx="82296" cy="859536"/>
          </a:xfrm>
          <a:prstGeom prst="rect">
            <a:avLst/>
          </a:prstGeom>
          <a:solidFill>
            <a:srgbClr val="58D6CB"/>
          </a:solidFill>
          <a:ln w="12700">
            <a:solidFill>
              <a:srgbClr val="58D6C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78992" y="2066544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78992" y="2496312"/>
            <a:ext cx="2798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9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and evaluation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416552" y="1819656"/>
            <a:ext cx="3602736" cy="1389888"/>
          </a:xfrm>
          <a:prstGeom prst="roundRect">
            <a:avLst>
              <a:gd name="adj" fmla="val 9211"/>
            </a:avLst>
          </a:prstGeom>
          <a:solidFill>
            <a:srgbClr val="17253A"/>
          </a:solidFill>
          <a:ln w="8890">
            <a:solidFill>
              <a:srgbClr val="1725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45152" y="2066544"/>
            <a:ext cx="82296" cy="859536"/>
          </a:xfrm>
          <a:prstGeom prst="rect">
            <a:avLst/>
          </a:prstGeom>
          <a:solidFill>
            <a:srgbClr val="58D6CB"/>
          </a:solidFill>
          <a:ln w="12700">
            <a:solidFill>
              <a:srgbClr val="58D6C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19472" y="2066544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NUMPY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919472" y="2496312"/>
            <a:ext cx="2798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9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Pixel-level arrays + statistics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257032" y="1819656"/>
            <a:ext cx="3602736" cy="1389888"/>
          </a:xfrm>
          <a:prstGeom prst="roundRect">
            <a:avLst>
              <a:gd name="adj" fmla="val 9211"/>
            </a:avLst>
          </a:prstGeom>
          <a:solidFill>
            <a:srgbClr val="17253A"/>
          </a:solidFill>
          <a:ln w="8890">
            <a:solidFill>
              <a:srgbClr val="1725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85632" y="2066544"/>
            <a:ext cx="82296" cy="859536"/>
          </a:xfrm>
          <a:prstGeom prst="rect">
            <a:avLst/>
          </a:prstGeom>
          <a:solidFill>
            <a:srgbClr val="58D6CB"/>
          </a:solidFill>
          <a:ln w="12700">
            <a:solidFill>
              <a:srgbClr val="58D6C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59952" y="2066544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PILLOW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759952" y="2496312"/>
            <a:ext cx="2798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9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Image loading and saving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76072" y="3483864"/>
            <a:ext cx="3602736" cy="1389888"/>
          </a:xfrm>
          <a:prstGeom prst="roundRect">
            <a:avLst>
              <a:gd name="adj" fmla="val 9211"/>
            </a:avLst>
          </a:prstGeom>
          <a:solidFill>
            <a:srgbClr val="17253A"/>
          </a:solidFill>
          <a:ln w="8890">
            <a:solidFill>
              <a:srgbClr val="17253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4672" y="3730752"/>
            <a:ext cx="82296" cy="859536"/>
          </a:xfrm>
          <a:prstGeom prst="rect">
            <a:avLst/>
          </a:prstGeom>
          <a:solidFill>
            <a:srgbClr val="58D6CB"/>
          </a:solidFill>
          <a:ln w="12700">
            <a:solidFill>
              <a:srgbClr val="58D6C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8992" y="3730752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MATPLOTLIB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78992" y="4160520"/>
            <a:ext cx="2798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9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Maps and comparisons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416552" y="3483864"/>
            <a:ext cx="3602736" cy="1389888"/>
          </a:xfrm>
          <a:prstGeom prst="roundRect">
            <a:avLst>
              <a:gd name="adj" fmla="val 9211"/>
            </a:avLst>
          </a:prstGeom>
          <a:solidFill>
            <a:srgbClr val="17253A"/>
          </a:solidFill>
          <a:ln w="8890">
            <a:solidFill>
              <a:srgbClr val="17253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45152" y="3730752"/>
            <a:ext cx="82296" cy="859536"/>
          </a:xfrm>
          <a:prstGeom prst="rect">
            <a:avLst/>
          </a:prstGeom>
          <a:solidFill>
            <a:srgbClr val="58D6CB"/>
          </a:solidFill>
          <a:ln w="12700">
            <a:solidFill>
              <a:srgbClr val="58D6C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19472" y="3730752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LOL DATASET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919472" y="4160520"/>
            <a:ext cx="2798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9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Paired low / reference images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257032" y="3483864"/>
            <a:ext cx="3602736" cy="1389888"/>
          </a:xfrm>
          <a:prstGeom prst="roundRect">
            <a:avLst>
              <a:gd name="adj" fmla="val 9211"/>
            </a:avLst>
          </a:prstGeom>
          <a:solidFill>
            <a:srgbClr val="17253A"/>
          </a:solidFill>
          <a:ln w="8890">
            <a:solidFill>
              <a:srgbClr val="17253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485632" y="3730752"/>
            <a:ext cx="82296" cy="859536"/>
          </a:xfrm>
          <a:prstGeom prst="rect">
            <a:avLst/>
          </a:prstGeom>
          <a:solidFill>
            <a:srgbClr val="58D6CB"/>
          </a:solidFill>
          <a:ln w="12700">
            <a:solidFill>
              <a:srgbClr val="58D6C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759952" y="3730752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 + VS CODE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759952" y="4160520"/>
            <a:ext cx="2798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9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Version control and workflow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03504" y="5513832"/>
            <a:ext cx="10954512" cy="502920"/>
          </a:xfrm>
          <a:prstGeom prst="roundRect">
            <a:avLst>
              <a:gd name="adj" fmla="val 25455"/>
            </a:avLst>
          </a:prstGeom>
          <a:solidFill>
            <a:srgbClr val="111D30"/>
          </a:solidFill>
          <a:ln w="8890">
            <a:solidFill>
              <a:srgbClr val="111D3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41248" y="564184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58D6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INITIAL ENHANCEMENT BASELINE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224528" y="5596128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Gamma correction (γ = 0.4)  •  not a trained LLIE model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8D6CB"/>
          </a:solidFill>
          <a:ln w="12700">
            <a:solidFill>
              <a:srgbClr val="58D6C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5603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8D6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/ PROGRESS — SHOW, DON’T TELL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75488" y="612648"/>
            <a:ext cx="112014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prototype runs end to end.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20700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LOL evaluation image • gamma baseline • controlled Gaussian perturbation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" y="6446520"/>
            <a:ext cx="11192256" cy="0"/>
          </a:xfrm>
          <a:prstGeom prst="line">
            <a:avLst/>
          </a:prstGeom>
          <a:noFill/>
          <a:ln w="12700">
            <a:solidFill>
              <a:srgbClr val="3346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1967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A9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EC601  /  FIDELITY-AWARE LLIE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835640" y="64922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9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/ 07</a:t>
            </a:r>
            <a:endParaRPr lang="en-US" sz="1000" dirty="0"/>
          </a:p>
        </p:txBody>
      </p:sp>
      <p:pic>
        <p:nvPicPr>
          <p:cNvPr id="9" name="Image 0" descr="/mnt/data/_sprint_prep/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719072"/>
            <a:ext cx="2514600" cy="1508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02920" y="3264408"/>
            <a:ext cx="2514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spc="30" kern="0" dirty="0">
                <a:solidFill>
                  <a:srgbClr val="A9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LOW-LIGHT INPUT</a:t>
            </a:r>
            <a:endParaRPr lang="en-US" sz="1000" dirty="0"/>
          </a:p>
        </p:txBody>
      </p:sp>
      <p:pic>
        <p:nvPicPr>
          <p:cNvPr id="11" name="Image 1" descr="/mnt/data/_sprint_prep/perturb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9544" y="1719072"/>
            <a:ext cx="2514600" cy="1508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209544" y="3264408"/>
            <a:ext cx="2514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spc="30" kern="0" dirty="0">
                <a:solidFill>
                  <a:srgbClr val="A9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PERTURBED INPUT</a:t>
            </a:r>
            <a:endParaRPr lang="en-US" sz="1000" dirty="0"/>
          </a:p>
        </p:txBody>
      </p:sp>
      <p:pic>
        <p:nvPicPr>
          <p:cNvPr id="13" name="Image 2" descr="/mnt/data/_sprint_prep/gamm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6168" y="1719072"/>
            <a:ext cx="2514600" cy="1508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916168" y="3264408"/>
            <a:ext cx="2514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spc="30" kern="0" dirty="0">
                <a:solidFill>
                  <a:srgbClr val="A9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GAMMA ENHANCEMENT</a:t>
            </a:r>
            <a:endParaRPr lang="en-US" sz="1000" dirty="0"/>
          </a:p>
        </p:txBody>
      </p:sp>
      <p:pic>
        <p:nvPicPr>
          <p:cNvPr id="15" name="Image 3" descr="/mnt/data/_sprint_prep/referenc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648456"/>
            <a:ext cx="2514600" cy="150876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02920" y="5193792"/>
            <a:ext cx="2514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spc="30" kern="0" dirty="0">
                <a:solidFill>
                  <a:srgbClr val="A9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NORMAL-LIGHT REFERENCE</a:t>
            </a:r>
            <a:endParaRPr lang="en-US" sz="1000" dirty="0"/>
          </a:p>
        </p:txBody>
      </p:sp>
      <p:pic>
        <p:nvPicPr>
          <p:cNvPr id="17" name="Image 4" descr="/mnt/data/_sprint_prep/erro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9544" y="3648456"/>
            <a:ext cx="2514600" cy="150876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3209544" y="5193792"/>
            <a:ext cx="2514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spc="30" kern="0" dirty="0">
                <a:solidFill>
                  <a:srgbClr val="A9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ERROR MAP</a:t>
            </a:r>
            <a:endParaRPr lang="en-US" sz="1000" dirty="0"/>
          </a:p>
        </p:txBody>
      </p:sp>
      <p:pic>
        <p:nvPicPr>
          <p:cNvPr id="19" name="Image 5" descr="/mnt/data/_sprint_prep/sensitivit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16168" y="3648456"/>
            <a:ext cx="2514600" cy="150876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5916168" y="5193792"/>
            <a:ext cx="2514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spc="30" kern="0" dirty="0">
                <a:solidFill>
                  <a:srgbClr val="A9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SENSITIVITY MAP</a:t>
            </a:r>
            <a:endParaRPr lang="en-US" sz="1000" dirty="0"/>
          </a:p>
        </p:txBody>
      </p:sp>
      <p:sp>
        <p:nvSpPr>
          <p:cNvPr id="21" name="Shape 13"/>
          <p:cNvSpPr/>
          <p:nvPr/>
        </p:nvSpPr>
        <p:spPr>
          <a:xfrm>
            <a:off x="8741664" y="1719072"/>
            <a:ext cx="2907792" cy="3694176"/>
          </a:xfrm>
          <a:prstGeom prst="roundRect">
            <a:avLst>
              <a:gd name="adj" fmla="val 4403"/>
            </a:avLst>
          </a:prstGeom>
          <a:solidFill>
            <a:srgbClr val="17253A"/>
          </a:solidFill>
          <a:ln w="8890">
            <a:solidFill>
              <a:srgbClr val="17253A"/>
            </a:solidFill>
            <a:prstDash val="solid"/>
          </a:ln>
        </p:spPr>
      </p:sp>
      <p:sp>
        <p:nvSpPr>
          <p:cNvPr id="22" name="Text 14"/>
          <p:cNvSpPr/>
          <p:nvPr/>
        </p:nvSpPr>
        <p:spPr>
          <a:xfrm>
            <a:off x="8997696" y="1920240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80" kern="0" dirty="0">
                <a:solidFill>
                  <a:srgbClr val="58D6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ONE-IMAGE PILOT</a:t>
            </a:r>
            <a:endParaRPr lang="en-US" sz="1200" dirty="0"/>
          </a:p>
        </p:txBody>
      </p:sp>
      <p:sp>
        <p:nvSpPr>
          <p:cNvPr id="23" name="Text 15"/>
          <p:cNvSpPr/>
          <p:nvPr/>
        </p:nvSpPr>
        <p:spPr>
          <a:xfrm>
            <a:off x="8979408" y="2423160"/>
            <a:ext cx="23774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BF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−0.564</a:t>
            </a:r>
            <a:endParaRPr lang="en-US" sz="2800" dirty="0"/>
          </a:p>
        </p:txBody>
      </p:sp>
      <p:sp>
        <p:nvSpPr>
          <p:cNvPr id="24" name="Text 16"/>
          <p:cNvSpPr/>
          <p:nvPr/>
        </p:nvSpPr>
        <p:spPr>
          <a:xfrm>
            <a:off x="8997696" y="289864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A9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SENSITIVITY ↔ ERROR</a:t>
            </a:r>
            <a:endParaRPr lang="en-US" sz="900" dirty="0"/>
          </a:p>
        </p:txBody>
      </p:sp>
      <p:sp>
        <p:nvSpPr>
          <p:cNvPr id="25" name="Text 17"/>
          <p:cNvSpPr/>
          <p:nvPr/>
        </p:nvSpPr>
        <p:spPr>
          <a:xfrm>
            <a:off x="8979408" y="3337560"/>
            <a:ext cx="23774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+0.569</a:t>
            </a:r>
            <a:endParaRPr lang="en-US" sz="2800" dirty="0"/>
          </a:p>
        </p:txBody>
      </p:sp>
      <p:sp>
        <p:nvSpPr>
          <p:cNvPr id="26" name="Text 18"/>
          <p:cNvSpPr/>
          <p:nvPr/>
        </p:nvSpPr>
        <p:spPr>
          <a:xfrm>
            <a:off x="8997696" y="381304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A9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SENSITIVITY ↔ DARKNESS</a:t>
            </a:r>
            <a:endParaRPr lang="en-US" sz="900" dirty="0"/>
          </a:p>
        </p:txBody>
      </p:sp>
      <p:sp>
        <p:nvSpPr>
          <p:cNvPr id="27" name="Text 19"/>
          <p:cNvSpPr/>
          <p:nvPr/>
        </p:nvSpPr>
        <p:spPr>
          <a:xfrm>
            <a:off x="8979408" y="4251960"/>
            <a:ext cx="23774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−0.969</a:t>
            </a:r>
            <a:endParaRPr lang="en-US" sz="2800" dirty="0"/>
          </a:p>
        </p:txBody>
      </p:sp>
      <p:sp>
        <p:nvSpPr>
          <p:cNvPr id="28" name="Text 20"/>
          <p:cNvSpPr/>
          <p:nvPr/>
        </p:nvSpPr>
        <p:spPr>
          <a:xfrm>
            <a:off x="8997696" y="472744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A9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 ↔ DARKNESS</a:t>
            </a:r>
            <a:endParaRPr lang="en-US" sz="900" dirty="0"/>
          </a:p>
        </p:txBody>
      </p:sp>
      <p:sp>
        <p:nvSpPr>
          <p:cNvPr id="29" name="Text 21"/>
          <p:cNvSpPr/>
          <p:nvPr/>
        </p:nvSpPr>
        <p:spPr>
          <a:xfrm>
            <a:off x="539496" y="5742432"/>
            <a:ext cx="8503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focal papers: SID · Retinex-Net · MR. Illuminate</a:t>
            </a:r>
            <a:endParaRPr lang="en-US" sz="1300" dirty="0"/>
          </a:p>
        </p:txBody>
      </p:sp>
      <p:sp>
        <p:nvSpPr>
          <p:cNvPr id="30" name="Text 22"/>
          <p:cNvSpPr/>
          <p:nvPr/>
        </p:nvSpPr>
        <p:spPr>
          <a:xfrm>
            <a:off x="539496" y="6053328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9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 only — one image, one perturbation realization; not a validated reliability result.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8D6CB"/>
          </a:solidFill>
          <a:ln w="12700">
            <a:solidFill>
              <a:srgbClr val="58D6C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5603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8D6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/ WHAT I LEARNED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75488" y="612648"/>
            <a:ext cx="112014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useful-looking map can measure the wrong thing.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20700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first experiment challenged our original assumption.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" y="6446520"/>
            <a:ext cx="11192256" cy="0"/>
          </a:xfrm>
          <a:prstGeom prst="line">
            <a:avLst/>
          </a:prstGeom>
          <a:noFill/>
          <a:ln w="12700">
            <a:solidFill>
              <a:srgbClr val="3346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1967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A9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EC601  /  FIDELITY-AWARE LLIE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835640" y="64922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9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/ 07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85216" y="1764792"/>
            <a:ext cx="5239512" cy="1993392"/>
          </a:xfrm>
          <a:prstGeom prst="roundRect">
            <a:avLst>
              <a:gd name="adj" fmla="val 6422"/>
            </a:avLst>
          </a:prstGeom>
          <a:solidFill>
            <a:srgbClr val="17253A"/>
          </a:solidFill>
          <a:ln w="8890">
            <a:solidFill>
              <a:srgbClr val="1725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7824" y="1993392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58D6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INITIAL HYPOTHESIS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77824" y="2414016"/>
            <a:ext cx="4535424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Higher output sensitivity</a:t>
            </a:r>
            <a:endParaRPr lang="en-US" sz="2100" dirty="0"/>
          </a:p>
          <a:p>
            <a:pPr indent="0" marL="0">
              <a:buNone/>
            </a:pPr>
            <a:r>
              <a:rPr lang="en-US" sz="21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may indicate larger enhancement error.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6062472" y="1764792"/>
            <a:ext cx="5504688" cy="1993392"/>
          </a:xfrm>
          <a:prstGeom prst="roundRect">
            <a:avLst>
              <a:gd name="adj" fmla="val 6422"/>
            </a:avLst>
          </a:prstGeom>
          <a:solidFill>
            <a:srgbClr val="17253A"/>
          </a:solidFill>
          <a:ln w="8890">
            <a:solidFill>
              <a:srgbClr val="1725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64224" y="1993392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BF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64224" y="2368296"/>
            <a:ext cx="469087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Sensitivity and error were negatively correlated in the pilot; brightness is a likely confound.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94944" y="4279392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130" kern="0" dirty="0">
                <a:solidFill>
                  <a:srgbClr val="58D6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CHANGED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94944" y="4681728"/>
            <a:ext cx="1066190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correlation is not enough. First ask whether the reference-error target is valid — then test whether sensitivity adds information beyond brightness.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94944" y="5916168"/>
            <a:ext cx="107442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Important: r = −0.969 comes from one image; it is a warning sign, not a dataset-wide conclusion.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8D6CB"/>
          </a:solidFill>
          <a:ln w="12700">
            <a:solidFill>
              <a:srgbClr val="58D6C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5603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8D6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/ SPRINT 2 GOALS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75488" y="612648"/>
            <a:ext cx="112014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a working prototype to a falsifiable test.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20700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two weeks  /  one reproducible evaluation and a clear pivot decision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" y="6446520"/>
            <a:ext cx="11192256" cy="0"/>
          </a:xfrm>
          <a:prstGeom prst="line">
            <a:avLst/>
          </a:prstGeom>
          <a:noFill/>
          <a:ln w="12700">
            <a:solidFill>
              <a:srgbClr val="3346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1967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A9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EC601  /  FIDELITY-AWARE LLIE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835640" y="64922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9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/ 07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94360" y="1746504"/>
            <a:ext cx="7479792" cy="813816"/>
          </a:xfrm>
          <a:prstGeom prst="roundRect">
            <a:avLst>
              <a:gd name="adj" fmla="val 15730"/>
            </a:avLst>
          </a:prstGeom>
          <a:solidFill>
            <a:srgbClr val="17253A"/>
          </a:solidFill>
          <a:ln w="8890">
            <a:solidFill>
              <a:srgbClr val="1725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929384"/>
            <a:ext cx="475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58D6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554480" y="1874520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554480" y="2157984"/>
            <a:ext cx="5989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on multiple LOL image pairs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360" y="2734056"/>
            <a:ext cx="7479792" cy="813816"/>
          </a:xfrm>
          <a:prstGeom prst="roundRect">
            <a:avLst>
              <a:gd name="adj" fmla="val 15730"/>
            </a:avLst>
          </a:prstGeom>
          <a:solidFill>
            <a:srgbClr val="17253A"/>
          </a:solidFill>
          <a:ln w="8890">
            <a:solidFill>
              <a:srgbClr val="1725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9536" y="2916936"/>
            <a:ext cx="475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58D6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554480" y="2862072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554480" y="3145536"/>
            <a:ext cx="5989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Sensitivity vs. darkness; two perturbation strengths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94360" y="3721608"/>
            <a:ext cx="7479792" cy="813816"/>
          </a:xfrm>
          <a:prstGeom prst="roundRect">
            <a:avLst>
              <a:gd name="adj" fmla="val 15730"/>
            </a:avLst>
          </a:prstGeom>
          <a:solidFill>
            <a:srgbClr val="17253A"/>
          </a:solidFill>
          <a:ln w="8890">
            <a:solidFill>
              <a:srgbClr val="1725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9536" y="3904488"/>
            <a:ext cx="475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58D6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554480" y="3849624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STRENGTHEN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554480" y="4133088"/>
            <a:ext cx="5989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Try one reproducible pretrained LLIE model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357616" y="1755648"/>
            <a:ext cx="3154680" cy="2798064"/>
          </a:xfrm>
          <a:prstGeom prst="roundRect">
            <a:avLst>
              <a:gd name="adj" fmla="val 4575"/>
            </a:avLst>
          </a:prstGeom>
          <a:solidFill>
            <a:srgbClr val="111D30"/>
          </a:solidFill>
          <a:ln w="8890">
            <a:solidFill>
              <a:srgbClr val="111D3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31936" y="1993392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BF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BLOCKER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631936" y="2468880"/>
            <a:ext cx="2523744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Choosing a robust LLIE baseline and checking whether reference error is a meaningful target.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67512" y="4919472"/>
            <a:ext cx="4572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110" kern="0" dirty="0">
                <a:solidFill>
                  <a:srgbClr val="58D6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SPRINT 2 DEMO SENTENCE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67512" y="5330952"/>
            <a:ext cx="1084478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a reproducible multi-image evaluation and decide whether sensitivity adds value beyond brightness.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Fidelity-Aware Low-Light Image Enhancement — Sprint 1</dc:title>
  <dc:subject>Sprint 1 Presentation</dc:subject>
  <dc:creator>EC601 Project</dc:creator>
  <cp:lastModifiedBy>EC601 Project</cp:lastModifiedBy>
  <cp:revision>1</cp:revision>
  <dcterms:created xsi:type="dcterms:W3CDTF">2026-10-13T01:34:40Z</dcterms:created>
  <dcterms:modified xsi:type="dcterms:W3CDTF">2026-10-13T01:34:40Z</dcterms:modified>
</cp:coreProperties>
</file>